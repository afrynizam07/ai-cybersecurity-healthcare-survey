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notesMasterIdLst>
    <p:notesMasterId r:id="rId17"/>
  </p:notesMasterIdLst>
  <p:sldIdLst>
    <p:sldId id="266" r:id="rId2"/>
    <p:sldId id="256" r:id="rId3"/>
    <p:sldId id="257" r:id="rId4"/>
    <p:sldId id="258" r:id="rId5"/>
    <p:sldId id="268" r:id="rId6"/>
    <p:sldId id="259" r:id="rId7"/>
    <p:sldId id="270" r:id="rId8"/>
    <p:sldId id="260" r:id="rId9"/>
    <p:sldId id="261" r:id="rId10"/>
    <p:sldId id="269" r:id="rId11"/>
    <p:sldId id="262" r:id="rId12"/>
    <p:sldId id="273" r:id="rId13"/>
    <p:sldId id="264" r:id="rId14"/>
    <p:sldId id="265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1D8D4-DA32-4AFF-AE83-ECA3A08C777D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79398-C4F1-4599-81A6-13975E8A2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82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109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8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1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59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4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7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0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2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88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9458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5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32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4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94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74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11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9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1dEHWI9ZMiQ9vOTwv9Agkpucw2yM752-9U8zh7-EI-do/edit" TargetMode="Externa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rtificial Intelligence (AI) in Healthcare &amp; Medical Field">
            <a:extLst>
              <a:ext uri="{FF2B5EF4-FFF2-40B4-BE49-F238E27FC236}">
                <a16:creationId xmlns:a16="http://schemas.microsoft.com/office/drawing/2014/main" id="{700D5CC0-C221-44A1-B6D1-1B80706ED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5955">
            <a:off x="23596" y="4665017"/>
            <a:ext cx="8332086" cy="121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70DB3A-505B-42F0-9DBA-3BD236E6D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467639" y="667913"/>
            <a:ext cx="7517311" cy="2767378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Bodoni MT Black" panose="02070A03080606020203" pitchFamily="18" charset="0"/>
              </a:rPr>
              <a:t>The Application of ai in Detecting and Preventing Cyber attacks in Healthcare Organisations</a:t>
            </a:r>
            <a:br>
              <a:rPr lang="en-GB" sz="3200" dirty="0">
                <a:solidFill>
                  <a:schemeClr val="tx2">
                    <a:lumMod val="40000"/>
                    <a:lumOff val="60000"/>
                  </a:schemeClr>
                </a:solidFill>
                <a:latin typeface="Bodoni MT Black" panose="02070A03080606020203" pitchFamily="18" charset="0"/>
              </a:rPr>
            </a:br>
            <a:endParaRPr lang="en-GB" sz="3200" dirty="0">
              <a:solidFill>
                <a:schemeClr val="tx2">
                  <a:lumMod val="40000"/>
                  <a:lumOff val="60000"/>
                </a:schemeClr>
              </a:solidFill>
              <a:latin typeface="Bodoni MT Black" panose="02070A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A8670-3BAF-4352-867A-A28C6D326868}"/>
              </a:ext>
            </a:extLst>
          </p:cNvPr>
          <p:cNvSpPr txBox="1"/>
          <p:nvPr/>
        </p:nvSpPr>
        <p:spPr>
          <a:xfrm rot="21397056">
            <a:off x="5827229" y="3446573"/>
            <a:ext cx="2585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Bodoni MT Black" panose="02070A03080606020203" pitchFamily="18" charset="0"/>
              </a:rPr>
              <a:t>Afry Nizam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Bodoni MT Black" panose="02070A03080606020203" pitchFamily="18" charset="0"/>
              </a:rPr>
              <a:t>PCP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Bodoni MT Black" panose="02070A03080606020203" pitchFamily="18" charset="0"/>
              </a:rPr>
              <a:t>HND in Computing</a:t>
            </a:r>
            <a:endParaRPr lang="en-GB" dirty="0">
              <a:solidFill>
                <a:schemeClr val="bg1">
                  <a:lumMod val="65000"/>
                </a:schemeClr>
              </a:solidFill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3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3" y="264796"/>
            <a:ext cx="7704667" cy="19812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Project Background</a:t>
            </a:r>
          </a:p>
        </p:txBody>
      </p:sp>
      <p:pic>
        <p:nvPicPr>
          <p:cNvPr id="2052" name="Picture 4" descr="10 Benefits of AI in Healthcare">
            <a:extLst>
              <a:ext uri="{FF2B5EF4-FFF2-40B4-BE49-F238E27FC236}">
                <a16:creationId xmlns:a16="http://schemas.microsoft.com/office/drawing/2014/main" id="{B32590E9-E7F3-4966-B9DE-8CAF29144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1" y="2425604"/>
            <a:ext cx="3057525" cy="249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E917EBDF-1027-4495-A4DE-1DF2FD863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2381669"/>
            <a:ext cx="53911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ORGANIZATIONS STORE SENSITIVE PATIENT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RANSOMWARE AND PHISHING ATTACKS ARE INCREASING IN HEALTHCARE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HELPS TO DETECT CYBERATTACKS FASTER AND MORE ACCURATELY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383" y="85726"/>
            <a:ext cx="7704667" cy="19812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3F9403-633F-4CCF-9197-8FEBEC8449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1504" y="1928427"/>
            <a:ext cx="79724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IMPROVES THE ACCURACY OF CYBER THREAT DETECTION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TO IDENTIFY UNUSUAL SYSTEM ACTIVITY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HELPS TO DETECT ADVANCED CYBER THREATS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RESPONDS FASTER THAN TRADITIONAL SECURITY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CHALLENGES INCLUDE HIGH COST AND DATA PRIVACY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123825"/>
            <a:ext cx="7696200" cy="2028826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Methods Used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8DEAF2C-EC20-42B6-8C4A-1CD58869C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" y="2242752"/>
            <a:ext cx="69246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MIXED RESEARCH APPROACH WAS USED IN THIS STUDY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WAS COLLECTED USING GOOGLE FORMS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QUANTITATIVE AND QUALITATIVE QUESTIONS WERE USED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WAS COLLECTED THROUGH SURVEYS AND INTERVIEWS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2746-F272-4A87-AB9E-223B60CF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-9143"/>
            <a:ext cx="8995409" cy="1151965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schedule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gantt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chart)</a:t>
            </a: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ADC134-6543-4D34-9880-A50690BA13E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68561413"/>
              </p:ext>
            </p:extLst>
          </p:nvPr>
        </p:nvGraphicFramePr>
        <p:xfrm>
          <a:off x="280797" y="802792"/>
          <a:ext cx="8193025" cy="46413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4575">
                  <a:extLst>
                    <a:ext uri="{9D8B030D-6E8A-4147-A177-3AD203B41FA5}">
                      <a16:colId xmlns:a16="http://schemas.microsoft.com/office/drawing/2014/main" val="4088687715"/>
                    </a:ext>
                  </a:extLst>
                </a:gridCol>
                <a:gridCol w="1458312">
                  <a:extLst>
                    <a:ext uri="{9D8B030D-6E8A-4147-A177-3AD203B41FA5}">
                      <a16:colId xmlns:a16="http://schemas.microsoft.com/office/drawing/2014/main" val="3692685725"/>
                    </a:ext>
                  </a:extLst>
                </a:gridCol>
                <a:gridCol w="1110298">
                  <a:extLst>
                    <a:ext uri="{9D8B030D-6E8A-4147-A177-3AD203B41FA5}">
                      <a16:colId xmlns:a16="http://schemas.microsoft.com/office/drawing/2014/main" val="2468259672"/>
                    </a:ext>
                  </a:extLst>
                </a:gridCol>
                <a:gridCol w="1110298">
                  <a:extLst>
                    <a:ext uri="{9D8B030D-6E8A-4147-A177-3AD203B41FA5}">
                      <a16:colId xmlns:a16="http://schemas.microsoft.com/office/drawing/2014/main" val="3734752106"/>
                    </a:ext>
                  </a:extLst>
                </a:gridCol>
                <a:gridCol w="1072976">
                  <a:extLst>
                    <a:ext uri="{9D8B030D-6E8A-4147-A177-3AD203B41FA5}">
                      <a16:colId xmlns:a16="http://schemas.microsoft.com/office/drawing/2014/main" val="3887665372"/>
                    </a:ext>
                  </a:extLst>
                </a:gridCol>
                <a:gridCol w="1284771">
                  <a:extLst>
                    <a:ext uri="{9D8B030D-6E8A-4147-A177-3AD203B41FA5}">
                      <a16:colId xmlns:a16="http://schemas.microsoft.com/office/drawing/2014/main" val="1321111354"/>
                    </a:ext>
                  </a:extLst>
                </a:gridCol>
                <a:gridCol w="1481795">
                  <a:extLst>
                    <a:ext uri="{9D8B030D-6E8A-4147-A177-3AD203B41FA5}">
                      <a16:colId xmlns:a16="http://schemas.microsoft.com/office/drawing/2014/main" val="101444409"/>
                    </a:ext>
                  </a:extLst>
                </a:gridCol>
              </a:tblGrid>
              <a:tr h="155356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Schedule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b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969321"/>
                  </a:ext>
                </a:extLst>
              </a:tr>
              <a:tr h="2035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No.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Date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Date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Adjusted Length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4230603834"/>
                  </a:ext>
                </a:extLst>
              </a:tr>
              <a:tr h="493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initiation and topic selection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topic finalised and approved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523263775"/>
                  </a:ext>
                </a:extLst>
              </a:tr>
              <a:tr h="493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Defining aims, objectives, and project scope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1/7/2025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1/13/2025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days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Overlaps with initiation for time efficiency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1753063318"/>
                  </a:ext>
                </a:extLst>
              </a:tr>
              <a:tr h="3621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 (secondary research)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1/13/2025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1/27/2025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weeks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journals, articles, and reports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2985690819"/>
                  </a:ext>
                </a:extLst>
              </a:tr>
              <a:tr h="661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methodology design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1/27/2025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of qualitative and quantitative methods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2929332400"/>
                  </a:ext>
                </a:extLst>
              </a:tr>
              <a:tr h="493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Questionnaire development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2/9/2025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Designing and refining survey questions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617990953"/>
                  </a:ext>
                </a:extLst>
              </a:tr>
              <a:tr h="3242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data collection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2/9/2025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2/16/2025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 and response collection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3862363696"/>
                  </a:ext>
                </a:extLst>
              </a:tr>
              <a:tr h="38840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 and interpretation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2/16/2025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2/23/2025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primary and secondary data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3913323660"/>
                  </a:ext>
                </a:extLst>
              </a:tr>
              <a:tr h="4931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writing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2/23/2025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3/2/2025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Drafting findings, discussion, and conclusion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4146315891"/>
                  </a:ext>
                </a:extLst>
              </a:tr>
              <a:tr h="3242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Review, proofreading, and final submission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3/2/2025</a:t>
                      </a:r>
                      <a:endParaRPr lang="en-GB" sz="11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3/9/2025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week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corrections and submission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GB" sz="11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rebuchet MS" panose="020B0603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174" marR="39174" marT="0" marB="0" anchor="ctr"/>
                </a:tc>
                <a:extLst>
                  <a:ext uri="{0D108BD9-81ED-4DB2-BD59-A6C34878D82A}">
                    <a16:rowId xmlns:a16="http://schemas.microsoft.com/office/drawing/2014/main" val="1679014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30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31" y="-104775"/>
            <a:ext cx="7777343" cy="1476375"/>
          </a:xfrm>
        </p:spPr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Reliability of Methods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BC6278C-DE73-49E9-8266-7032B0670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47740" y="2056871"/>
            <a:ext cx="3162641" cy="3014663"/>
          </a:xfrm>
        </p:spPr>
      </p:sp>
      <p:pic>
        <p:nvPicPr>
          <p:cNvPr id="3074" name="Picture 2" descr="Reliability Stock Illustrations – 33,354 Reliability Stock Illustrations,  Vectors &amp; Clipart - Dreamstime">
            <a:extLst>
              <a:ext uri="{FF2B5EF4-FFF2-40B4-BE49-F238E27FC236}">
                <a16:creationId xmlns:a16="http://schemas.microsoft.com/office/drawing/2014/main" id="{A514E81A-1520-48FD-8FB3-CA783CBCD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030738"/>
            <a:ext cx="3524250" cy="323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8E0369C-4EA4-406A-A3EE-94AE2C594E5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-47625" y="1857748"/>
            <a:ext cx="530542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QUESTIONS HELPED TO KEEP CONSISTENT ANSWERS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CHARTS MADE THE DATA EASY TO UNDERSTAND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INTERVIEWS WERE CONDUCTED IN A RELIABLE WAY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MULTIPLE DATA SOURCES INCREASED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9E1F301-B5EE-49E5-B0E9-B0D9BF1D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1" y="428626"/>
            <a:ext cx="7797662" cy="1151965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REFLECTION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5B32C5-C564-414F-A17B-85D87A42E4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0501" y="1751357"/>
            <a:ext cx="7843656" cy="3355285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had a small number of people, so results may not represent everyone. 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Answers were self‑reported, so they may be biased. 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should be seen as useful guidance, not final truth.  </a:t>
            </a:r>
          </a:p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studies should use bigger samples and combine surveys, interviews, and system data. </a:t>
            </a:r>
          </a:p>
        </p:txBody>
      </p:sp>
    </p:spTree>
    <p:extLst>
      <p:ext uri="{BB962C8B-B14F-4D97-AF65-F5344CB8AC3E}">
        <p14:creationId xmlns:p14="http://schemas.microsoft.com/office/powerpoint/2010/main" val="4170165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32" y="60239"/>
            <a:ext cx="5013793" cy="1442226"/>
          </a:xfrm>
        </p:spPr>
        <p:txBody>
          <a:bodyPr/>
          <a:lstStyle/>
          <a:p>
            <a:pPr algn="l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Decisions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52438A-61A0-48E7-8916-94DD5D0750E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879850" y="895351"/>
            <a:ext cx="4525781" cy="468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WAS A SMALL-SCALE PROJECT DUE TO TIME LIMITS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WAS CHOSEN BECAUSE IT FACES HIGH CYBER RISKS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WAS SELECTED FOR REAL-TIME CYBER THREAT DETECTION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FORMS WERE USED BECAUSE THEY ARE LOW COST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WAS ALIGNED WITH ORGANIZATIONAL NEEDS</a:t>
            </a:r>
          </a:p>
        </p:txBody>
      </p:sp>
      <p:pic>
        <p:nvPicPr>
          <p:cNvPr id="6149" name="Picture 5" descr="Musings, the blog - Peter Crow">
            <a:extLst>
              <a:ext uri="{FF2B5EF4-FFF2-40B4-BE49-F238E27FC236}">
                <a16:creationId xmlns:a16="http://schemas.microsoft.com/office/drawing/2014/main" id="{83D02B02-4278-4194-B01D-D617281A1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4" y="1947863"/>
            <a:ext cx="3381048" cy="312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333" y="342901"/>
            <a:ext cx="7704667" cy="19812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C28F4-6F13-4EC8-90AA-D255FC11D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212" y="2586425"/>
            <a:ext cx="87915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RESPONDENTS SUPPORT THE USE OF AI IN CYBERSECURITY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IS EFFECTIVE AGAINST PHISHING AND RANSOMWARE ATTACKS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TIME WAS OBSERVED USING AI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AND LACK OF SKILLS WERE IDENTIFIED AS CHALLENGES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462-08B6-4BE3-A14D-214DC4EA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1" y="-231648"/>
            <a:ext cx="7797677" cy="288096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Identified</a:t>
            </a:r>
            <a:endParaRPr lang="en-GB" sz="4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9FB537-8EAB-4202-BEF6-9D905EAE37D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48591" y="1877985"/>
            <a:ext cx="78549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IMPLEMENTATION CAN BE VERY EXPENSIVE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SHORTAGE OF AI AND CYBERSECURITY SKILLS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ALERTS CAN AFFECT USER AND CUSTOMER EXPERIENCE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SYSTEMS CAN HAVE ISSUES WITH OLD LEGACY SYSTEMS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>
                  <a:lumMod val="60000"/>
                  <a:lumOff val="40000"/>
                </a:schemeClr>
              </a:buClr>
              <a:buSzPct val="130000"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AND ETHICAL RULES MUST BE FOLLOWED (NCSC, 2023)</a:t>
            </a:r>
          </a:p>
        </p:txBody>
      </p:sp>
    </p:spTree>
    <p:extLst>
      <p:ext uri="{BB962C8B-B14F-4D97-AF65-F5344CB8AC3E}">
        <p14:creationId xmlns:p14="http://schemas.microsoft.com/office/powerpoint/2010/main" val="3870667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724" y="114601"/>
            <a:ext cx="5071422" cy="1670827"/>
          </a:xfrm>
        </p:spPr>
        <p:txBody>
          <a:bodyPr>
            <a:normAutofit fontScale="90000"/>
          </a:bodyPr>
          <a:lstStyle/>
          <a:p>
            <a:pPr algn="l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1219200"/>
            <a:ext cx="4525781" cy="4688785"/>
          </a:xfrm>
        </p:spPr>
        <p:txBody>
          <a:bodyPr>
            <a:normAutofit/>
          </a:bodyPr>
          <a:lstStyle/>
          <a:p>
            <a:pPr>
              <a:buSzPct val="1300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AI models regularly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300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cybersecurity training to staff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30000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strong data protection policies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30000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AI IN STEPS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4" name="Picture 4" descr="7 Tips for Data Science Project Management - KDnuggets">
            <a:extLst>
              <a:ext uri="{FF2B5EF4-FFF2-40B4-BE49-F238E27FC236}">
                <a16:creationId xmlns:a16="http://schemas.microsoft.com/office/drawing/2014/main" id="{FFD2079D-B2BC-4811-B760-275E567F8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1" y="2195962"/>
            <a:ext cx="3409950" cy="273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54C6-3643-4646-9839-31CE72E1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719A8-3C0C-4544-9126-36739DF9F6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3875" y="2038350"/>
            <a:ext cx="7786506" cy="3336235"/>
          </a:xfrm>
        </p:spPr>
        <p:txBody>
          <a:bodyPr>
            <a:normAutofit/>
          </a:bodyPr>
          <a:lstStyle/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FROM MORE HOSPITALS FOR STRONGER RESULTS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AI USAGE OVER TIME TO SEE LONG-TERM EFFECTS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SURVEY RESULTS WITH REAL SYSTEM DATA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THIS RESEARCH TO OTHER AREAS LIKE FINANCE AND EDUCATION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SURVEYS, INTERVIEWS, AND CASE STUDIES FOR BETTER RELIABILITY</a:t>
            </a:r>
          </a:p>
          <a:p>
            <a:pPr>
              <a:buSzPct val="130000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9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175" y="457200"/>
            <a:ext cx="7667625" cy="1981201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457200"/>
            <a:ext cx="8820150" cy="5895041"/>
          </a:xfrm>
        </p:spPr>
        <p:txBody>
          <a:bodyPr>
            <a:normAutofit/>
          </a:bodyPr>
          <a:lstStyle/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MAKES HEALTHCARE CYBERSECURITY STRONGER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AND RESPONSE SPEED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CAN BE MANAGED WITH GOOD PLANNING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RECOMMENDED FOR MODERN HEALTHCARE SYSTEMS</a:t>
            </a:r>
          </a:p>
          <a:p>
            <a:pPr>
              <a:buSzPct val="130000"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7724775" cy="1981201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" y="1743075"/>
            <a:ext cx="8543925" cy="2905125"/>
          </a:xfrm>
        </p:spPr>
        <p:txBody>
          <a:bodyPr>
            <a:noAutofit/>
          </a:bodyPr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IBM (2023)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 intelligence and cybersecurity in healthcare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Available at: IBM Security Reports.</a:t>
            </a:r>
            <a:endParaRPr lang="en-GB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(2023)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role of AI in modern threat detection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Available at: Microsoft Security Blog.</a:t>
            </a:r>
          </a:p>
          <a:p>
            <a:pPr marL="0" marR="0">
              <a:lnSpc>
                <a:spcPct val="115000"/>
              </a:lnSpc>
            </a:pP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NCSC (2023) </a:t>
            </a:r>
            <a:r>
              <a:rPr lang="en-GB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Cyber security risks in healthcare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Available at: National Cyber Security Centre.</a:t>
            </a:r>
          </a:p>
          <a:p>
            <a:pPr marL="0" marR="0">
              <a:lnSpc>
                <a:spcPct val="115000"/>
              </a:lnSpc>
            </a:pP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IBM (2023) </a:t>
            </a:r>
            <a:r>
              <a:rPr lang="en-GB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of a data breach report</a:t>
            </a:r>
            <a:r>
              <a:rPr lang="en-GB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Available at: IBM Security.</a:t>
            </a:r>
            <a:endParaRPr lang="en-GB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rebuchet MS" panose="020B0603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rebuchet MS" panose="020B0603020202020204" pitchFamily="34" charset="0"/>
                <a:cs typeface="Times New Roman" panose="02020603050405020304" pitchFamily="18" charset="0"/>
                <a:hlinkClick r:id="rId2"/>
              </a:rPr>
              <a:t>https://docs.google.com/forms/d/1dEHWI9ZMiQ9vOTwv9Agkpucw2yM752-9U8zh7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EA03-22B9-4BEB-BDBC-72811253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1" y="1504951"/>
            <a:ext cx="7797677" cy="3194903"/>
          </a:xfrm>
        </p:spPr>
        <p:txBody>
          <a:bodyPr>
            <a:normAutofit/>
          </a:bodyPr>
          <a:lstStyle/>
          <a:p>
            <a:r>
              <a:rPr lang="en-US" sz="13800" dirty="0">
                <a:latin typeface="Chiller" panose="040204040310070206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THANK YOU!</a:t>
            </a:r>
            <a:endParaRPr lang="en-GB" sz="13800" dirty="0">
              <a:latin typeface="Chiller" panose="04020404031007020602" pitchFamily="8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2398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334</TotalTime>
  <Words>691</Words>
  <Application>Microsoft Office PowerPoint</Application>
  <PresentationFormat>On-screen Show (4:3)</PresentationFormat>
  <Paragraphs>165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Bodoni MT Black</vt:lpstr>
      <vt:lpstr>Calibri</vt:lpstr>
      <vt:lpstr>Chiller</vt:lpstr>
      <vt:lpstr>Impact</vt:lpstr>
      <vt:lpstr>Times New Roman</vt:lpstr>
      <vt:lpstr>Main Event</vt:lpstr>
      <vt:lpstr>The Application of ai in Detecting and Preventing Cyber attacks in Healthcare Organisations </vt:lpstr>
      <vt:lpstr>Introduction &amp; Project Background</vt:lpstr>
      <vt:lpstr>Literature Review</vt:lpstr>
      <vt:lpstr>Research Methods Used</vt:lpstr>
      <vt:lpstr>Project schedule (gantt chart)</vt:lpstr>
      <vt:lpstr>Accuracy &amp; Reliability of Methods</vt:lpstr>
      <vt:lpstr>CRITICAL REFLECTION</vt:lpstr>
      <vt:lpstr>Project Planning Decisions</vt:lpstr>
      <vt:lpstr>Data  Analysis &amp; Key Findings</vt:lpstr>
      <vt:lpstr>Challenges Identified</vt:lpstr>
      <vt:lpstr>Project Recommendations</vt:lpstr>
      <vt:lpstr>FUTURE IMPROVEMENTS</vt:lpstr>
      <vt:lpstr>Conclusion</vt:lpstr>
      <vt:lpstr>Reference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Project Background</dc:title>
  <dc:subject/>
  <dc:creator>Afry Nizam</dc:creator>
  <cp:keywords/>
  <dc:description>generated using python-pptx</dc:description>
  <cp:lastModifiedBy>Afry Nizam</cp:lastModifiedBy>
  <cp:revision>45</cp:revision>
  <dcterms:created xsi:type="dcterms:W3CDTF">2013-01-27T09:14:16Z</dcterms:created>
  <dcterms:modified xsi:type="dcterms:W3CDTF">2026-10-16T03:18:54Z</dcterms:modified>
  <cp:category/>
</cp:coreProperties>
</file>